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4b7914135a4577" /><Relationship Type="http://schemas.openxmlformats.org/officeDocument/2006/relationships/extended-properties" Target="/docProps/app.xml" Id="Rcb96b9caea214737" /><Relationship Type="http://schemas.openxmlformats.org/officeDocument/2006/relationships/officeDocument" Target="/ppt/presentation.xml" Id="R71f2dd0df3ff45e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ed6959fd944ad"/>
  </p:sldMasterIdLst>
  <p:notesMasterIdLst>
    <p:notesMasterId xmlns:r="http://schemas.openxmlformats.org/officeDocument/2006/relationships" r:id="Rc5decb3e7ce446c4"/>
  </p:notesMasterIdLst>
  <p:sldIdLst>
    <p:sldId xmlns:r="http://schemas.openxmlformats.org/officeDocument/2006/relationships" id="256" r:id="R67ade215a17a4e3a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d52610bdb941e7" /><Relationship Type="http://schemas.openxmlformats.org/officeDocument/2006/relationships/slideMaster" Target="/ppt/slideMasters/slideMaster1.xml" Id="Rd1fed6959fd944ad" /><Relationship Type="http://schemas.openxmlformats.org/officeDocument/2006/relationships/notesMaster" Target="/ppt/notesMasters/notesMaster1.xml" Id="Rc5decb3e7ce446c4" /><Relationship Type="http://schemas.openxmlformats.org/officeDocument/2006/relationships/presProps" Target="/ppt/presProps.xml" Id="R114909f2ce3d4cc7" /><Relationship Type="http://schemas.openxmlformats.org/officeDocument/2006/relationships/tableStyles" Target="/ppt/tableStyles.xml" Id="R0911de83311b4e6e" /><Relationship Type="http://schemas.openxmlformats.org/officeDocument/2006/relationships/slide" Target="/ppt/slides/slide1.xml" Id="R67ade215a17a4e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8e9b91b23a749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fa98b4c6c4f48" /><Relationship Type="http://schemas.openxmlformats.org/officeDocument/2006/relationships/notesMaster" Target="/ppt/notesMasters/notesMaster1.xml" Id="R9381c25ca427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REPRO converts an adaptive search for a trigger into a fixed, inspectable replay. During discovery the investigator chooses inputs based on screenshots, process state and logs. Before confirming a proposed trigger, verification uses the triaged report symptom rather than the investigator's conclusion. A replay resets the worker and game profile, restores registered fixtures where present, and executes the recorded actions. The default is five repetitions; all must reproduce before the workflow advances.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For temporal bugs a separate model call receives 2–8 ordered checkpoint screenshots plus the input trace. It must establish the prerequisite state and transition. Missing, low-confidence or contradictory evidence is inconclusive. Crash and literal-log checks instead inspect process state or a log signature. This figure emphasizes the temporal path used by the presentation case.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Reduction only deletes recorded actions, preserves required checkpoints and their order, and reconfirms the shorter sequence. It is bounded and does not prove a globally minimal trigger. The retained YAML is a replay regression; source diagnosis, patch proposal and full candidate validation follow. Candidate replays must reach the expected state and show the symptom absent, with separately frozen follow-up steps where the original crash or log trigger does not prove the positive outcome.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recorded Mindustry #12620 case is md-12620-terra-overnight-02. It received guidance to include both successful-save confirmations. Its original report-only predecessor confirmed 3/5. The shown run confirmed 5/5 baseline and 5/5 candidate outcomes and reduced 31 actions to 30. Visual judgments are model-based evidence rather than deterministic ground truth. These are recorded results, not a fresh execution.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Sources, inspected at repository revision 1aa7839:</a:t>
            </a:r>
          </a:p>
          <a:p xmlns:a="http://schemas.openxmlformats.org/drawingml/2006/main">
            <a:r>
              <a:t>https://github.com/j-cunanan/oai-gaming-hackathon/blob/1aa7839/repro/orchestration/manager.py</a:t>
            </a:r>
          </a:p>
          <a:p xmlns:a="http://schemas.openxmlformats.org/drawingml/2006/main">
            <a:r>
              <a:t>https://github.com/j-cunanan/oai-gaming-hackathon/blob/1aa7839/repro/agents/oracle.py</a:t>
            </a:r>
          </a:p>
          <a:p xmlns:a="http://schemas.openxmlformats.org/drawingml/2006/main">
            <a:r>
              <a:t>https://github.com/j-cunanan/oai-gaming-hackathon/blob/1aa7839/repro/computer/replay.py</a:t>
            </a:r>
          </a:p>
          <a:p xmlns:a="http://schemas.openxmlformats.org/drawingml/2006/main">
            <a:r>
              <a:t>https://github.com/j-cunanan/oai-gaming-hackathon/blob/1aa7839/repro/computer/sandbox.py</a:t>
            </a:r>
          </a:p>
          <a:p xmlns:a="http://schemas.openxmlformats.org/drawingml/2006/main">
            <a:r>
              <a:t>https://github.com/j-cunanan/oai-gaming-hackathon/blob/1aa7839/docs/demos/datapatch-2026-09-15/README.md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2b5df17ab429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bcc999f9a914e0b" /><Relationship Type="http://schemas.openxmlformats.org/officeDocument/2006/relationships/slideLayout" Target="/ppt/slideLayouts/slideLayout1.xml" Id="R1fae46a514594f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e46a514594f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05cf6f56d47ea" /><Relationship Type="http://schemas.openxmlformats.org/officeDocument/2006/relationships/notesSlide" Target="/ppt/notesSlides/notesSlide1.xml" Id="Rb8cc22b2eb8045d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text-0">
            <a:extLst xmlns:a="http://schemas.openxmlformats.org/drawingml/2006/main">
              <a:ext uri="{FF2B5EF4-FFF2-40B4-BE49-F238E27FC236}">
                <a16:creationId xmlns:a16="http://schemas.microsoft.com/office/drawing/2014/main" id="{C48812A5-C6BE-4556-96C0-B0FFE06E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20955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B8FF"/>
                </a:solidFill>
                <a:latin typeface="Arial"/>
                <a:ea typeface="Arial"/>
                <a:cs typeface="Arial"/>
              </a:rPr>
              <a:t>REPRO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834EAB76-9C1A-4F3F-ACCC-EB1CD789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38200"/>
            <a:ext cx="14192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How REPRO makes a bug repeatable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844121A1-9CF2-4093-8408-84A602FB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4192250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AI discovers the trigger. A frozen replay must reproduce it on fresh game profiles.</a:t>
            </a:r>
          </a:p>
        </p:txBody>
      </p:sp>
      <p:sp>
        <p:nvSpPr>
          <p:cNvPr id="4" name="shape-3">
            <a:extLst xmlns:a="http://schemas.openxmlformats.org/drawingml/2006/main">
              <a:ext uri="{FF2B5EF4-FFF2-40B4-BE49-F238E27FC236}">
                <a16:creationId xmlns:a16="http://schemas.microsoft.com/office/drawing/2014/main" id="{C665440F-228B-4BEB-B374-8D4B609E7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71700"/>
            <a:ext cx="4229100" cy="4095750"/>
          </a:xfrm>
          <a:prstGeom xmlns:a="http://schemas.openxmlformats.org/drawingml/2006/main" prst="roundRect">
            <a:avLst>
              <a:gd name="adj" fmla="val 2326"/>
            </a:avLst>
          </a:prstGeom>
          <a:solidFill xmlns:a="http://schemas.openxmlformats.org/drawingml/2006/main">
            <a:srgbClr val="1C1827"/>
          </a:solidFill>
          <a:ln xmlns:a="http://schemas.openxmlformats.org/drawingml/2006/main" w="14288">
            <a:solidFill>
              <a:srgbClr val="786497"/>
            </a:solidFill>
          </a:ln>
        </p:spPr>
      </p:sp>
      <p:sp>
        <p:nvSpPr>
          <p:cNvPr id="5" name="shape-4">
            <a:extLst xmlns:a="http://schemas.openxmlformats.org/drawingml/2006/main">
              <a:ext uri="{FF2B5EF4-FFF2-40B4-BE49-F238E27FC236}">
                <a16:creationId xmlns:a16="http://schemas.microsoft.com/office/drawing/2014/main" id="{858CA1BC-DAEA-4A0E-A535-40753B40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171700"/>
            <a:ext cx="4038600" cy="4095750"/>
          </a:xfrm>
          <a:prstGeom xmlns:a="http://schemas.openxmlformats.org/drawingml/2006/main" prst="roundRect">
            <a:avLst>
              <a:gd name="adj" fmla="val 2358"/>
            </a:avLst>
          </a:prstGeom>
          <a:solidFill xmlns:a="http://schemas.openxmlformats.org/drawingml/2006/main">
            <a:srgbClr val="17231D"/>
          </a:solidFill>
          <a:ln xmlns:a="http://schemas.openxmlformats.org/drawingml/2006/main" w="14288">
            <a:solidFill>
              <a:srgbClr val="527F6A"/>
            </a:solidFill>
          </a:ln>
        </p:spPr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1D6C4161-FD22-4485-9DFD-58C3169C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24100"/>
            <a:ext cx="2143125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089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0899E"/>
                </a:solidFill>
                <a:latin typeface="Arial"/>
                <a:ea typeface="Arial"/>
                <a:cs typeface="Arial"/>
              </a:rPr>
              <a:t>01  DEFINE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13038904-592C-49AD-9519-3253352F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57475"/>
            <a:ext cx="230505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Player report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A1C0ECF6-E44E-4C84-BC46-C52D6899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76600"/>
            <a:ext cx="223837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BB8FF"/>
                </a:solidFill>
                <a:latin typeface="Arial"/>
                <a:ea typeface="Arial"/>
                <a:cs typeface="Arial"/>
              </a:rPr>
              <a:t>“The deleted patch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E006143D-5B20-4361-82C0-E1C533A07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48253"/>
            <a:ext cx="223837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BB8FF"/>
                </a:solidFill>
                <a:latin typeface="Arial"/>
                <a:ea typeface="Arial"/>
                <a:cs typeface="Arial"/>
              </a:rPr>
              <a:t>comes back after</a:t>
            </a:r>
          </a:p>
        </p:txBody>
      </p:sp>
      <p:sp>
        <p:nvSpPr>
          <p:cNvPr id="10" name="text-9">
            <a:extLst xmlns:a="http://schemas.openxmlformats.org/drawingml/2006/main">
              <a:ext uri="{FF2B5EF4-FFF2-40B4-BE49-F238E27FC236}">
                <a16:creationId xmlns:a16="http://schemas.microsoft.com/office/drawing/2014/main" id="{1296FE93-9229-48B5-8D14-F74F9381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9906"/>
            <a:ext cx="2238375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CBB8FF"/>
                </a:solidFill>
                <a:latin typeface="Arial"/>
                <a:ea typeface="Arial"/>
                <a:cs typeface="Arial"/>
              </a:rPr>
              <a:t>I reopen my map.”</a:t>
            </a:r>
          </a:p>
        </p:txBody>
      </p:sp>
      <p:sp>
        <p:nvSpPr>
          <p:cNvPr id="11" name="text-10">
            <a:extLst xmlns:a="http://schemas.openxmlformats.org/drawingml/2006/main">
              <a:ext uri="{FF2B5EF4-FFF2-40B4-BE49-F238E27FC236}">
                <a16:creationId xmlns:a16="http://schemas.microsoft.com/office/drawing/2014/main" id="{82D20207-2223-4CA0-9F47-4EA79614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14850"/>
            <a:ext cx="2238375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Pin the game revision</a:t>
            </a:r>
          </a:p>
        </p:txBody>
      </p:sp>
      <p:sp>
        <p:nvSpPr>
          <p:cNvPr id="12" name="text-11">
            <a:extLst xmlns:a="http://schemas.openxmlformats.org/drawingml/2006/main">
              <a:ext uri="{FF2B5EF4-FFF2-40B4-BE49-F238E27FC236}">
                <a16:creationId xmlns:a16="http://schemas.microsoft.com/office/drawing/2014/main" id="{049D1438-5D39-4A02-8B41-1AD7FC5B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881"/>
            <a:ext cx="2238375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and expected behavior.</a:t>
            </a:r>
          </a:p>
        </p:txBody>
      </p:sp>
      <p:sp>
        <p:nvSpPr>
          <p:cNvPr id="13" name="text-12">
            <a:extLst xmlns:a="http://schemas.openxmlformats.org/drawingml/2006/main">
              <a:ext uri="{FF2B5EF4-FFF2-40B4-BE49-F238E27FC236}">
                <a16:creationId xmlns:a16="http://schemas.microsoft.com/office/drawing/2014/main" id="{0A234344-5E8B-486A-8B7D-1BE83068C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62575"/>
            <a:ext cx="224790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The report defines</a:t>
            </a:r>
          </a:p>
        </p:txBody>
      </p:sp>
      <p:sp>
        <p:nvSpPr>
          <p:cNvPr id="14" name="text-13">
            <a:extLst xmlns:a="http://schemas.openxmlformats.org/drawingml/2006/main">
              <a:ext uri="{FF2B5EF4-FFF2-40B4-BE49-F238E27FC236}">
                <a16:creationId xmlns:a16="http://schemas.microsoft.com/office/drawing/2014/main" id="{C1161FD8-F720-432F-98FD-06DA4C673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10606"/>
            <a:ext cx="224790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what counts as the bug.</a:t>
            </a:r>
          </a:p>
        </p:txBody>
      </p:sp>
      <p:sp>
        <p:nvSpPr>
          <p:cNvPr id="15" name="connector-14">
            <a:extLst xmlns:a="http://schemas.openxmlformats.org/drawingml/2006/main">
              <a:ext uri="{FF2B5EF4-FFF2-40B4-BE49-F238E27FC236}">
                <a16:creationId xmlns:a16="http://schemas.microsoft.com/office/drawing/2014/main" id="{6BE8AA61-BB4C-46E4-A0CB-A5CA301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981450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BB8FF"/>
            </a:solidFill>
          </a:ln>
        </p:spPr>
      </p:sp>
      <p:sp>
        <p:nvSpPr>
          <p:cNvPr id="16" name="connector-15">
            <a:extLst xmlns:a="http://schemas.openxmlformats.org/drawingml/2006/main">
              <a:ext uri="{FF2B5EF4-FFF2-40B4-BE49-F238E27FC236}">
                <a16:creationId xmlns:a16="http://schemas.microsoft.com/office/drawing/2014/main" id="{216B351A-5D63-4F5D-8A1C-5B382220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936873"/>
            <a:ext cx="85725" cy="89154"/>
          </a:xfrm>
          <a:custGeom xmlns:a="http://schemas.openxmlformats.org/drawingml/2006/main">
            <a:pathLst>
              <a:path w="85725" h="89154">
                <a:moveTo>
                  <a:pt x="85725" y="44577"/>
                </a:moveTo>
                <a:lnTo>
                  <a:pt x="0" y="891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B8FF"/>
          </a:solidFill>
          <a:ln xmlns:a="http://schemas.openxmlformats.org/drawingml/2006/main" w="0">
            <a:noFill/>
          </a:ln>
        </p:spPr>
      </p:sp>
      <p:sp>
        <p:nvSpPr>
          <p:cNvPr id="17" name="text-16">
            <a:extLst xmlns:a="http://schemas.openxmlformats.org/drawingml/2006/main">
              <a:ext uri="{FF2B5EF4-FFF2-40B4-BE49-F238E27FC236}">
                <a16:creationId xmlns:a16="http://schemas.microsoft.com/office/drawing/2014/main" id="{98AF3CE5-A303-40EC-8F4F-41BE4C2E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24100"/>
            <a:ext cx="371475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BB8FF"/>
                </a:solidFill>
                <a:latin typeface="Arial"/>
                <a:ea typeface="Arial"/>
                <a:cs typeface="Arial"/>
              </a:rPr>
              <a:t>02  DISCOVER</a:t>
            </a:r>
          </a:p>
        </p:txBody>
      </p:sp>
      <p:sp>
        <p:nvSpPr>
          <p:cNvPr id="18" name="text-17">
            <a:extLst xmlns:a="http://schemas.openxmlformats.org/drawingml/2006/main">
              <a:ext uri="{FF2B5EF4-FFF2-40B4-BE49-F238E27FC236}">
                <a16:creationId xmlns:a16="http://schemas.microsoft.com/office/drawing/2014/main" id="{5B35D691-0BE3-4505-87FF-EB5FAAE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57475"/>
            <a:ext cx="37338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AI explores the game</a:t>
            </a:r>
          </a:p>
        </p:txBody>
      </p:sp>
      <p:sp>
        <p:nvSpPr>
          <p:cNvPr id="19" name="shape-18">
            <a:extLst xmlns:a="http://schemas.openxmlformats.org/drawingml/2006/main">
              <a:ext uri="{FF2B5EF4-FFF2-40B4-BE49-F238E27FC236}">
                <a16:creationId xmlns:a16="http://schemas.microsoft.com/office/drawing/2014/main" id="{B5EA7F2E-B270-47F6-A103-1B1F0B34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524250"/>
            <a:ext cx="146685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282032"/>
          </a:solidFill>
          <a:ln xmlns:a="http://schemas.openxmlformats.org/drawingml/2006/main" w="14288">
            <a:solidFill>
              <a:srgbClr val="786497"/>
            </a:solidFill>
          </a:ln>
        </p:spPr>
      </p:sp>
      <p:sp>
        <p:nvSpPr>
          <p:cNvPr id="20" name="shape-19">
            <a:extLst xmlns:a="http://schemas.openxmlformats.org/drawingml/2006/main">
              <a:ext uri="{FF2B5EF4-FFF2-40B4-BE49-F238E27FC236}">
                <a16:creationId xmlns:a16="http://schemas.microsoft.com/office/drawing/2014/main" id="{631AB5E5-C96F-442C-8D80-BC641913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524250"/>
            <a:ext cx="1466850" cy="838200"/>
          </a:xfrm>
          <a:prstGeom xmlns:a="http://schemas.openxmlformats.org/drawingml/2006/main" prst="roundRect">
            <a:avLst>
              <a:gd name="adj" fmla="val 5682"/>
            </a:avLst>
          </a:prstGeom>
          <a:solidFill xmlns:a="http://schemas.openxmlformats.org/drawingml/2006/main">
            <a:srgbClr val="282032"/>
          </a:solidFill>
          <a:ln xmlns:a="http://schemas.openxmlformats.org/drawingml/2006/main" w="14288">
            <a:solidFill>
              <a:srgbClr val="786497"/>
            </a:solidFill>
          </a:ln>
        </p:spPr>
      </p:sp>
      <p:sp>
        <p:nvSpPr>
          <p:cNvPr id="21" name="text-20">
            <a:extLst xmlns:a="http://schemas.openxmlformats.org/drawingml/2006/main">
              <a:ext uri="{FF2B5EF4-FFF2-40B4-BE49-F238E27FC236}">
                <a16:creationId xmlns:a16="http://schemas.microsoft.com/office/drawing/2014/main" id="{5E7D4C71-58DD-41BC-B456-65442FB3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667125"/>
            <a:ext cx="133350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AI</a:t>
            </a:r>
          </a:p>
        </p:txBody>
      </p:sp>
      <p:sp>
        <p:nvSpPr>
          <p:cNvPr id="22" name="text-21">
            <a:extLst xmlns:a="http://schemas.openxmlformats.org/drawingml/2006/main">
              <a:ext uri="{FF2B5EF4-FFF2-40B4-BE49-F238E27FC236}">
                <a16:creationId xmlns:a16="http://schemas.microsoft.com/office/drawing/2014/main" id="{449C7056-921A-42B2-87C7-090DC075F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3938778"/>
            <a:ext cx="133350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investigator</a:t>
            </a:r>
          </a:p>
        </p:txBody>
      </p:sp>
      <p:sp>
        <p:nvSpPr>
          <p:cNvPr id="23" name="text-22">
            <a:extLst xmlns:a="http://schemas.openxmlformats.org/drawingml/2006/main">
              <a:ext uri="{FF2B5EF4-FFF2-40B4-BE49-F238E27FC236}">
                <a16:creationId xmlns:a16="http://schemas.microsoft.com/office/drawing/2014/main" id="{8DB06E1F-CA64-41DE-AA57-F57507D4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667125"/>
            <a:ext cx="133350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Game</a:t>
            </a:r>
          </a:p>
        </p:txBody>
      </p:sp>
      <p:sp>
        <p:nvSpPr>
          <p:cNvPr id="24" name="text-23">
            <a:extLst xmlns:a="http://schemas.openxmlformats.org/drawingml/2006/main">
              <a:ext uri="{FF2B5EF4-FFF2-40B4-BE49-F238E27FC236}">
                <a16:creationId xmlns:a16="http://schemas.microsoft.com/office/drawing/2014/main" id="{5D1A41C9-1F1A-41C6-BE4E-AC5852381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3938778"/>
            <a:ext cx="133350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sandbox</a:t>
            </a:r>
          </a:p>
        </p:txBody>
      </p:sp>
      <p:sp>
        <p:nvSpPr>
          <p:cNvPr id="25" name="text-24">
            <a:extLst xmlns:a="http://schemas.openxmlformats.org/drawingml/2006/main">
              <a:ext uri="{FF2B5EF4-FFF2-40B4-BE49-F238E27FC236}">
                <a16:creationId xmlns:a16="http://schemas.microsoft.com/office/drawing/2014/main" id="{6F86109F-43FF-4AF0-900B-45383C9B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19475"/>
            <a:ext cx="857250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BB8FF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26" name="connector-25">
            <a:extLst xmlns:a="http://schemas.openxmlformats.org/drawingml/2006/main">
              <a:ext uri="{FF2B5EF4-FFF2-40B4-BE49-F238E27FC236}">
                <a16:creationId xmlns:a16="http://schemas.microsoft.com/office/drawing/2014/main" id="{9F98BE6C-E1A3-4AE6-9640-DB40BD08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743325"/>
            <a:ext cx="790575" cy="9525"/>
          </a:xfrm>
          <a:custGeom xmlns:a="http://schemas.openxmlformats.org/drawingml/2006/main">
            <a:pathLst>
              <a:path w="790575" h="9525">
                <a:moveTo>
                  <a:pt x="0" y="0"/>
                </a:moveTo>
                <a:lnTo>
                  <a:pt x="790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BB8FF"/>
            </a:solidFill>
          </a:ln>
        </p:spPr>
      </p:sp>
      <p:sp>
        <p:nvSpPr>
          <p:cNvPr id="27" name="connector-26">
            <a:extLst xmlns:a="http://schemas.openxmlformats.org/drawingml/2006/main">
              <a:ext uri="{FF2B5EF4-FFF2-40B4-BE49-F238E27FC236}">
                <a16:creationId xmlns:a16="http://schemas.microsoft.com/office/drawing/2014/main" id="{C3C7A317-CE07-4A29-8DAB-B2CDFF74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703701"/>
            <a:ext cx="76200" cy="79248"/>
          </a:xfrm>
          <a:custGeom xmlns:a="http://schemas.openxmlformats.org/drawingml/2006/main">
            <a:pathLst>
              <a:path w="76200" h="79248">
                <a:moveTo>
                  <a:pt x="76200" y="39624"/>
                </a:moveTo>
                <a:lnTo>
                  <a:pt x="0" y="792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B8FF"/>
          </a:solidFill>
          <a:ln xmlns:a="http://schemas.openxmlformats.org/drawingml/2006/main" w="0">
            <a:noFill/>
          </a:ln>
        </p:spPr>
      </p:sp>
      <p:sp>
        <p:nvSpPr>
          <p:cNvPr id="28" name="connector-27">
            <a:extLst xmlns:a="http://schemas.openxmlformats.org/drawingml/2006/main">
              <a:ext uri="{FF2B5EF4-FFF2-40B4-BE49-F238E27FC236}">
                <a16:creationId xmlns:a16="http://schemas.microsoft.com/office/drawing/2014/main" id="{EC9EB65D-81F1-4181-9DE1-4355F64D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14800"/>
            <a:ext cx="790575" cy="9525"/>
          </a:xfrm>
          <a:custGeom xmlns:a="http://schemas.openxmlformats.org/drawingml/2006/main">
            <a:pathLst>
              <a:path w="790575" h="9525">
                <a:moveTo>
                  <a:pt x="790575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CBB8FF"/>
            </a:solidFill>
          </a:ln>
        </p:spPr>
      </p:sp>
      <p:sp>
        <p:nvSpPr>
          <p:cNvPr id="29" name="connector-28">
            <a:extLst xmlns:a="http://schemas.openxmlformats.org/drawingml/2006/main">
              <a:ext uri="{FF2B5EF4-FFF2-40B4-BE49-F238E27FC236}">
                <a16:creationId xmlns:a16="http://schemas.microsoft.com/office/drawing/2014/main" id="{10178B0C-F600-4D55-92A5-41FF37BC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075176"/>
            <a:ext cx="76200" cy="79248"/>
          </a:xfrm>
          <a:custGeom xmlns:a="http://schemas.openxmlformats.org/drawingml/2006/main">
            <a:pathLst>
              <a:path w="76200" h="79248">
                <a:moveTo>
                  <a:pt x="0" y="39624"/>
                </a:moveTo>
                <a:lnTo>
                  <a:pt x="76200" y="0"/>
                </a:lnTo>
                <a:lnTo>
                  <a:pt x="76200" y="79248"/>
                </a:lnTo>
                <a:close/>
              </a:path>
            </a:pathLst>
          </a:custGeom>
          <a:solidFill xmlns:a="http://schemas.openxmlformats.org/drawingml/2006/main">
            <a:srgbClr val="CBB8FF"/>
          </a:solidFill>
          <a:ln xmlns:a="http://schemas.openxmlformats.org/drawingml/2006/main" w="0">
            <a:noFill/>
          </a:ln>
        </p:spPr>
      </p:sp>
      <p:sp>
        <p:nvSpPr>
          <p:cNvPr id="30" name="text-29">
            <a:extLst xmlns:a="http://schemas.openxmlformats.org/drawingml/2006/main">
              <a:ext uri="{FF2B5EF4-FFF2-40B4-BE49-F238E27FC236}">
                <a16:creationId xmlns:a16="http://schemas.microsoft.com/office/drawing/2014/main" id="{262A6829-293C-44A2-8AAE-3576EDE1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191000"/>
            <a:ext cx="895350" cy="185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screenshots</a:t>
            </a:r>
          </a:p>
        </p:txBody>
      </p:sp>
      <p:sp>
        <p:nvSpPr>
          <p:cNvPr id="31" name="text-30">
            <a:extLst xmlns:a="http://schemas.openxmlformats.org/drawingml/2006/main">
              <a:ext uri="{FF2B5EF4-FFF2-40B4-BE49-F238E27FC236}">
                <a16:creationId xmlns:a16="http://schemas.microsoft.com/office/drawing/2014/main" id="{D2958592-530E-4A3D-9AE1-651937E5D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72000"/>
            <a:ext cx="1685925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Hypothesize</a:t>
            </a:r>
          </a:p>
        </p:txBody>
      </p:sp>
      <p:sp>
        <p:nvSpPr>
          <p:cNvPr id="32" name="text-31">
            <a:extLst xmlns:a="http://schemas.openxmlformats.org/drawingml/2006/main">
              <a:ext uri="{FF2B5EF4-FFF2-40B4-BE49-F238E27FC236}">
                <a16:creationId xmlns:a16="http://schemas.microsoft.com/office/drawing/2014/main" id="{3F00848A-F629-419B-B025-22BE9772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86325"/>
            <a:ext cx="180975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Choose next input</a:t>
            </a:r>
          </a:p>
        </p:txBody>
      </p:sp>
      <p:sp>
        <p:nvSpPr>
          <p:cNvPr id="33" name="text-32">
            <a:extLst xmlns:a="http://schemas.openxmlformats.org/drawingml/2006/main">
              <a:ext uri="{FF2B5EF4-FFF2-40B4-BE49-F238E27FC236}">
                <a16:creationId xmlns:a16="http://schemas.microsoft.com/office/drawing/2014/main" id="{FAC82241-F168-4442-A4FE-3304BAC7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72000"/>
            <a:ext cx="1543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Linux desktop</a:t>
            </a:r>
          </a:p>
        </p:txBody>
      </p:sp>
      <p:sp>
        <p:nvSpPr>
          <p:cNvPr id="34" name="text-33">
            <a:extLst xmlns:a="http://schemas.openxmlformats.org/drawingml/2006/main">
              <a:ext uri="{FF2B5EF4-FFF2-40B4-BE49-F238E27FC236}">
                <a16:creationId xmlns:a16="http://schemas.microsoft.com/office/drawing/2014/main" id="{FE6AD2F9-7FCA-4A62-BF59-106C5181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886325"/>
            <a:ext cx="15240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Isolated in Docker</a:t>
            </a:r>
          </a:p>
        </p:txBody>
      </p:sp>
      <p:sp>
        <p:nvSpPr>
          <p:cNvPr id="35" name="connector-34">
            <a:extLst xmlns:a="http://schemas.openxmlformats.org/drawingml/2006/main">
              <a:ext uri="{FF2B5EF4-FFF2-40B4-BE49-F238E27FC236}">
                <a16:creationId xmlns:a16="http://schemas.microsoft.com/office/drawing/2014/main" id="{F7602E65-703F-4F9A-82EB-D5C05118A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238750"/>
            <a:ext cx="3733800" cy="9525"/>
          </a:xfrm>
          <a:custGeom xmlns:a="http://schemas.openxmlformats.org/drawingml/2006/main">
            <a:pathLst>
              <a:path w="3733800" h="9525">
                <a:moveTo>
                  <a:pt x="0" y="0"/>
                </a:moveTo>
                <a:lnTo>
                  <a:pt x="3733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786497"/>
            </a:solidFill>
          </a:ln>
        </p:spPr>
      </p:sp>
      <p:sp>
        <p:nvSpPr>
          <p:cNvPr id="36" name="text-35">
            <a:extLst xmlns:a="http://schemas.openxmlformats.org/drawingml/2006/main">
              <a:ext uri="{FF2B5EF4-FFF2-40B4-BE49-F238E27FC236}">
                <a16:creationId xmlns:a16="http://schemas.microsoft.com/office/drawing/2014/main" id="{37F2988A-A49C-4816-90D0-77E7E593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10200"/>
            <a:ext cx="37147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Record inputs + resulting evidence</a:t>
            </a:r>
          </a:p>
        </p:txBody>
      </p:sp>
      <p:sp>
        <p:nvSpPr>
          <p:cNvPr id="37" name="text-36">
            <a:extLst xmlns:a="http://schemas.openxmlformats.org/drawingml/2006/main">
              <a:ext uri="{FF2B5EF4-FFF2-40B4-BE49-F238E27FC236}">
                <a16:creationId xmlns:a16="http://schemas.microsoft.com/office/drawing/2014/main" id="{07D74542-2483-44F6-87C7-7FB5004D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43575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Check the first attempt before replay.</a:t>
            </a:r>
          </a:p>
        </p:txBody>
      </p:sp>
      <p:sp>
        <p:nvSpPr>
          <p:cNvPr id="38" name="text-37">
            <a:extLst xmlns:a="http://schemas.openxmlformats.org/drawingml/2006/main">
              <a:ext uri="{FF2B5EF4-FFF2-40B4-BE49-F238E27FC236}">
                <a16:creationId xmlns:a16="http://schemas.microsoft.com/office/drawing/2014/main" id="{05760C2C-FD1E-4B78-ADA6-FFD067D9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409950"/>
            <a:ext cx="60960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BB8FF"/>
                </a:solidFill>
                <a:latin typeface="Arial"/>
                <a:ea typeface="Arial"/>
                <a:cs typeface="Arial"/>
              </a:rPr>
              <a:t>Freeze</a:t>
            </a:r>
          </a:p>
        </p:txBody>
      </p:sp>
      <p:sp>
        <p:nvSpPr>
          <p:cNvPr id="39" name="text-38">
            <a:extLst xmlns:a="http://schemas.openxmlformats.org/drawingml/2006/main">
              <a:ext uri="{FF2B5EF4-FFF2-40B4-BE49-F238E27FC236}">
                <a16:creationId xmlns:a16="http://schemas.microsoft.com/office/drawing/2014/main" id="{4D90C7A0-B0CD-4F0E-BB8F-C0F04200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98926"/>
            <a:ext cx="60960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BB8FF"/>
                </a:solidFill>
                <a:latin typeface="Arial"/>
                <a:ea typeface="Arial"/>
                <a:cs typeface="Arial"/>
              </a:rPr>
              <a:t>trace</a:t>
            </a:r>
          </a:p>
        </p:txBody>
      </p:sp>
      <p:sp>
        <p:nvSpPr>
          <p:cNvPr id="40" name="connector-39">
            <a:extLst xmlns:a="http://schemas.openxmlformats.org/drawingml/2006/main">
              <a:ext uri="{FF2B5EF4-FFF2-40B4-BE49-F238E27FC236}">
                <a16:creationId xmlns:a16="http://schemas.microsoft.com/office/drawing/2014/main" id="{6C7EACFB-B44F-438D-ACB0-904A76A2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81450"/>
            <a:ext cx="295275" cy="9525"/>
          </a:xfrm>
          <a:custGeom xmlns:a="http://schemas.openxmlformats.org/drawingml/2006/main">
            <a:pathLst>
              <a:path w="295275" h="9525">
                <a:moveTo>
                  <a:pt x="0" y="0"/>
                </a:moveTo>
                <a:lnTo>
                  <a:pt x="295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CBB8FF"/>
            </a:solidFill>
          </a:ln>
        </p:spPr>
      </p:sp>
      <p:sp>
        <p:nvSpPr>
          <p:cNvPr id="41" name="connector-40">
            <a:extLst xmlns:a="http://schemas.openxmlformats.org/drawingml/2006/main">
              <a:ext uri="{FF2B5EF4-FFF2-40B4-BE49-F238E27FC236}">
                <a16:creationId xmlns:a16="http://schemas.microsoft.com/office/drawing/2014/main" id="{A14EE9F4-EEB8-4D7A-AD40-D0BF61E6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6873"/>
            <a:ext cx="85725" cy="89154"/>
          </a:xfrm>
          <a:custGeom xmlns:a="http://schemas.openxmlformats.org/drawingml/2006/main">
            <a:pathLst>
              <a:path w="85725" h="89154">
                <a:moveTo>
                  <a:pt x="85725" y="44577"/>
                </a:moveTo>
                <a:lnTo>
                  <a:pt x="0" y="891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BB8FF"/>
          </a:solidFill>
          <a:ln xmlns:a="http://schemas.openxmlformats.org/drawingml/2006/main" w="0">
            <a:noFill/>
          </a:ln>
        </p:spPr>
      </p:sp>
      <p:sp>
        <p:nvSpPr>
          <p:cNvPr id="42" name="text-41">
            <a:extLst xmlns:a="http://schemas.openxmlformats.org/drawingml/2006/main">
              <a:ext uri="{FF2B5EF4-FFF2-40B4-BE49-F238E27FC236}">
                <a16:creationId xmlns:a16="http://schemas.microsoft.com/office/drawing/2014/main" id="{C317BC89-7468-4A7A-824F-11E725D0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24100"/>
            <a:ext cx="35433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03  VERIFY</a:t>
            </a:r>
          </a:p>
        </p:txBody>
      </p:sp>
      <p:sp>
        <p:nvSpPr>
          <p:cNvPr id="43" name="text-42">
            <a:extLst xmlns:a="http://schemas.openxmlformats.org/drawingml/2006/main">
              <a:ext uri="{FF2B5EF4-FFF2-40B4-BE49-F238E27FC236}">
                <a16:creationId xmlns:a16="http://schemas.microsoft.com/office/drawing/2014/main" id="{CCF6B2DD-6E53-48FD-85CC-474F095A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57475"/>
            <a:ext cx="35623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Replay from a clean state</a:t>
            </a:r>
          </a:p>
        </p:txBody>
      </p:sp>
      <p:sp>
        <p:nvSpPr>
          <p:cNvPr id="44" name="text-43">
            <a:extLst xmlns:a="http://schemas.openxmlformats.org/drawingml/2006/main">
              <a:ext uri="{FF2B5EF4-FFF2-40B4-BE49-F238E27FC236}">
                <a16:creationId xmlns:a16="http://schemas.microsoft.com/office/drawing/2014/main" id="{D72A0765-64CE-4753-9EBD-C7817E7D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19450"/>
            <a:ext cx="35623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4F1FC"/>
                </a:solidFill>
                <a:latin typeface="Arial"/>
                <a:ea typeface="Arial"/>
                <a:cs typeface="Arial"/>
              </a:rPr>
              <a:t>5 fresh profiles by default</a:t>
            </a:r>
          </a:p>
        </p:txBody>
      </p:sp>
      <p:sp>
        <p:nvSpPr>
          <p:cNvPr id="45" name="shape-44">
            <a:extLst xmlns:a="http://schemas.openxmlformats.org/drawingml/2006/main">
              <a:ext uri="{FF2B5EF4-FFF2-40B4-BE49-F238E27FC236}">
                <a16:creationId xmlns:a16="http://schemas.microsoft.com/office/drawing/2014/main" id="{E4AA9E49-9A61-4AED-A178-5713D012A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695700"/>
            <a:ext cx="552450" cy="571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2392D"/>
          </a:solidFill>
          <a:ln xmlns:a="http://schemas.openxmlformats.org/drawingml/2006/main" w="14288">
            <a:solidFill>
              <a:srgbClr val="527F6A"/>
            </a:solidFill>
          </a:ln>
        </p:spPr>
      </p:sp>
      <p:sp>
        <p:nvSpPr>
          <p:cNvPr id="46" name="text-45">
            <a:extLst xmlns:a="http://schemas.openxmlformats.org/drawingml/2006/main">
              <a:ext uri="{FF2B5EF4-FFF2-40B4-BE49-F238E27FC236}">
                <a16:creationId xmlns:a16="http://schemas.microsoft.com/office/drawing/2014/main" id="{9872AF09-DF5F-4AEE-B327-196DB87E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10000"/>
            <a:ext cx="5524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47" name="connector-46">
            <a:extLst xmlns:a="http://schemas.openxmlformats.org/drawingml/2006/main">
              <a:ext uri="{FF2B5EF4-FFF2-40B4-BE49-F238E27FC236}">
                <a16:creationId xmlns:a16="http://schemas.microsoft.com/office/drawing/2014/main" id="{2E8CBAD7-7EBD-4007-9CB5-7A56C777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98145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DE0BF"/>
            </a:solidFill>
          </a:ln>
        </p:spPr>
      </p:sp>
      <p:sp>
        <p:nvSpPr>
          <p:cNvPr id="48" name="connector-47">
            <a:extLst xmlns:a="http://schemas.openxmlformats.org/drawingml/2006/main">
              <a:ext uri="{FF2B5EF4-FFF2-40B4-BE49-F238E27FC236}">
                <a16:creationId xmlns:a16="http://schemas.microsoft.com/office/drawing/2014/main" id="{6014B775-44C1-4E93-A1A0-9C789C16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961638"/>
            <a:ext cx="38100" cy="39624"/>
          </a:xfrm>
          <a:custGeom xmlns:a="http://schemas.openxmlformats.org/drawingml/2006/main">
            <a:pathLst>
              <a:path w="38100" h="39624">
                <a:moveTo>
                  <a:pt x="38100" y="19812"/>
                </a:moveTo>
                <a:lnTo>
                  <a:pt x="0" y="39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E0BF"/>
          </a:solidFill>
          <a:ln xmlns:a="http://schemas.openxmlformats.org/drawingml/2006/main" w="0">
            <a:noFill/>
          </a:ln>
        </p:spPr>
      </p:sp>
      <p:sp>
        <p:nvSpPr>
          <p:cNvPr id="49" name="shape-48">
            <a:extLst xmlns:a="http://schemas.openxmlformats.org/drawingml/2006/main">
              <a:ext uri="{FF2B5EF4-FFF2-40B4-BE49-F238E27FC236}">
                <a16:creationId xmlns:a16="http://schemas.microsoft.com/office/drawing/2014/main" id="{4F6F5D50-190F-4E71-9A94-1BF1C3A6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95700"/>
            <a:ext cx="552450" cy="571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2392D"/>
          </a:solidFill>
          <a:ln xmlns:a="http://schemas.openxmlformats.org/drawingml/2006/main" w="14288">
            <a:solidFill>
              <a:srgbClr val="527F6A"/>
            </a:solidFill>
          </a:ln>
        </p:spPr>
      </p:sp>
      <p:sp>
        <p:nvSpPr>
          <p:cNvPr id="50" name="text-49">
            <a:extLst xmlns:a="http://schemas.openxmlformats.org/drawingml/2006/main">
              <a:ext uri="{FF2B5EF4-FFF2-40B4-BE49-F238E27FC236}">
                <a16:creationId xmlns:a16="http://schemas.microsoft.com/office/drawing/2014/main" id="{4B87663D-ADC2-468F-A64C-A61DD46BA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810000"/>
            <a:ext cx="5524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connector-50">
            <a:extLst xmlns:a="http://schemas.openxmlformats.org/drawingml/2006/main">
              <a:ext uri="{FF2B5EF4-FFF2-40B4-BE49-F238E27FC236}">
                <a16:creationId xmlns:a16="http://schemas.microsoft.com/office/drawing/2014/main" id="{659E4B7E-87D2-41E8-9CDE-3EB42B50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98145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DE0BF"/>
            </a:solidFill>
          </a:ln>
        </p:spPr>
      </p:sp>
      <p:sp>
        <p:nvSpPr>
          <p:cNvPr id="52" name="connector-51">
            <a:extLst xmlns:a="http://schemas.openxmlformats.org/drawingml/2006/main">
              <a:ext uri="{FF2B5EF4-FFF2-40B4-BE49-F238E27FC236}">
                <a16:creationId xmlns:a16="http://schemas.microsoft.com/office/drawing/2014/main" id="{C873B533-AA03-46F9-B356-54058703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961638"/>
            <a:ext cx="38100" cy="39624"/>
          </a:xfrm>
          <a:custGeom xmlns:a="http://schemas.openxmlformats.org/drawingml/2006/main">
            <a:pathLst>
              <a:path w="38100" h="39624">
                <a:moveTo>
                  <a:pt x="38100" y="19812"/>
                </a:moveTo>
                <a:lnTo>
                  <a:pt x="0" y="39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E0BF"/>
          </a:solidFill>
          <a:ln xmlns:a="http://schemas.openxmlformats.org/drawingml/2006/main" w="0">
            <a:noFill/>
          </a:ln>
        </p:spPr>
      </p:sp>
      <p:sp>
        <p:nvSpPr>
          <p:cNvPr id="53" name="shape-52">
            <a:extLst xmlns:a="http://schemas.openxmlformats.org/drawingml/2006/main">
              <a:ext uri="{FF2B5EF4-FFF2-40B4-BE49-F238E27FC236}">
                <a16:creationId xmlns:a16="http://schemas.microsoft.com/office/drawing/2014/main" id="{26742F46-4F7D-4021-9EC7-3803574D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695700"/>
            <a:ext cx="552450" cy="571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2392D"/>
          </a:solidFill>
          <a:ln xmlns:a="http://schemas.openxmlformats.org/drawingml/2006/main" w="14288">
            <a:solidFill>
              <a:srgbClr val="527F6A"/>
            </a:solidFill>
          </a:ln>
        </p:spPr>
      </p:sp>
      <p:sp>
        <p:nvSpPr>
          <p:cNvPr id="54" name="text-53">
            <a:extLst xmlns:a="http://schemas.openxmlformats.org/drawingml/2006/main">
              <a:ext uri="{FF2B5EF4-FFF2-40B4-BE49-F238E27FC236}">
                <a16:creationId xmlns:a16="http://schemas.microsoft.com/office/drawing/2014/main" id="{66E6EB35-0A15-44A1-B3C3-EF239D8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10000"/>
            <a:ext cx="5524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55" name="connector-54">
            <a:extLst xmlns:a="http://schemas.openxmlformats.org/drawingml/2006/main">
              <a:ext uri="{FF2B5EF4-FFF2-40B4-BE49-F238E27FC236}">
                <a16:creationId xmlns:a16="http://schemas.microsoft.com/office/drawing/2014/main" id="{3BD0F64E-8CE4-4681-A228-A50BF9E2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8145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DE0BF"/>
            </a:solidFill>
          </a:ln>
        </p:spPr>
      </p:sp>
      <p:sp>
        <p:nvSpPr>
          <p:cNvPr id="56" name="connector-55">
            <a:extLst xmlns:a="http://schemas.openxmlformats.org/drawingml/2006/main">
              <a:ext uri="{FF2B5EF4-FFF2-40B4-BE49-F238E27FC236}">
                <a16:creationId xmlns:a16="http://schemas.microsoft.com/office/drawing/2014/main" id="{DF521F9B-E9B3-46D2-9995-180242D20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961638"/>
            <a:ext cx="38100" cy="39624"/>
          </a:xfrm>
          <a:custGeom xmlns:a="http://schemas.openxmlformats.org/drawingml/2006/main">
            <a:pathLst>
              <a:path w="38100" h="39624">
                <a:moveTo>
                  <a:pt x="38100" y="19812"/>
                </a:moveTo>
                <a:lnTo>
                  <a:pt x="0" y="39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E0BF"/>
          </a:solidFill>
          <a:ln xmlns:a="http://schemas.openxmlformats.org/drawingml/2006/main" w="0">
            <a:noFill/>
          </a:ln>
        </p:spPr>
      </p:sp>
      <p:sp>
        <p:nvSpPr>
          <p:cNvPr id="57" name="shape-56">
            <a:extLst xmlns:a="http://schemas.openxmlformats.org/drawingml/2006/main">
              <a:ext uri="{FF2B5EF4-FFF2-40B4-BE49-F238E27FC236}">
                <a16:creationId xmlns:a16="http://schemas.microsoft.com/office/drawing/2014/main" id="{55A2F9B9-AE1D-4958-A359-8AADD7DD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695700"/>
            <a:ext cx="552450" cy="571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2392D"/>
          </a:solidFill>
          <a:ln xmlns:a="http://schemas.openxmlformats.org/drawingml/2006/main" w="14288">
            <a:solidFill>
              <a:srgbClr val="527F6A"/>
            </a:solidFill>
          </a:ln>
        </p:spPr>
      </p:sp>
      <p:sp>
        <p:nvSpPr>
          <p:cNvPr id="58" name="text-57">
            <a:extLst xmlns:a="http://schemas.openxmlformats.org/drawingml/2006/main">
              <a:ext uri="{FF2B5EF4-FFF2-40B4-BE49-F238E27FC236}">
                <a16:creationId xmlns:a16="http://schemas.microsoft.com/office/drawing/2014/main" id="{50D7293A-5A43-4263-B87F-F0EAAA8B8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810000"/>
            <a:ext cx="5524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59" name="connector-58">
            <a:extLst xmlns:a="http://schemas.openxmlformats.org/drawingml/2006/main">
              <a:ext uri="{FF2B5EF4-FFF2-40B4-BE49-F238E27FC236}">
                <a16:creationId xmlns:a16="http://schemas.microsoft.com/office/drawing/2014/main" id="{BC026154-B911-4A76-AAA0-DC2B0809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981450"/>
            <a:ext cx="76200" cy="9525"/>
          </a:xfrm>
          <a:custGeom xmlns:a="http://schemas.openxmlformats.org/drawingml/2006/main">
            <a:pathLst>
              <a:path w="76200" h="9525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">
            <a:solidFill>
              <a:srgbClr val="9DE0BF"/>
            </a:solidFill>
          </a:ln>
        </p:spPr>
      </p:sp>
      <p:sp>
        <p:nvSpPr>
          <p:cNvPr id="60" name="connector-59">
            <a:extLst xmlns:a="http://schemas.openxmlformats.org/drawingml/2006/main">
              <a:ext uri="{FF2B5EF4-FFF2-40B4-BE49-F238E27FC236}">
                <a16:creationId xmlns:a16="http://schemas.microsoft.com/office/drawing/2014/main" id="{C4094F55-34BD-4EF6-BEA9-446C15F50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3961638"/>
            <a:ext cx="38100" cy="39624"/>
          </a:xfrm>
          <a:custGeom xmlns:a="http://schemas.openxmlformats.org/drawingml/2006/main">
            <a:pathLst>
              <a:path w="38100" h="39624">
                <a:moveTo>
                  <a:pt x="38100" y="19812"/>
                </a:moveTo>
                <a:lnTo>
                  <a:pt x="0" y="39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E0BF"/>
          </a:solidFill>
          <a:ln xmlns:a="http://schemas.openxmlformats.org/drawingml/2006/main" w="0">
            <a:noFill/>
          </a:ln>
        </p:spPr>
      </p:sp>
      <p:sp>
        <p:nvSpPr>
          <p:cNvPr id="61" name="shape-60">
            <a:extLst xmlns:a="http://schemas.openxmlformats.org/drawingml/2006/main">
              <a:ext uri="{FF2B5EF4-FFF2-40B4-BE49-F238E27FC236}">
                <a16:creationId xmlns:a16="http://schemas.microsoft.com/office/drawing/2014/main" id="{3BBB28A9-1AA5-4EDE-8277-4D3E0472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695700"/>
            <a:ext cx="552450" cy="5715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22392D"/>
          </a:solidFill>
          <a:ln xmlns:a="http://schemas.openxmlformats.org/drawingml/2006/main" w="14288">
            <a:solidFill>
              <a:srgbClr val="527F6A"/>
            </a:solidFill>
          </a:ln>
        </p:spPr>
      </p:sp>
      <p:sp>
        <p:nvSpPr>
          <p:cNvPr id="62" name="text-61">
            <a:extLst xmlns:a="http://schemas.openxmlformats.org/drawingml/2006/main">
              <a:ext uri="{FF2B5EF4-FFF2-40B4-BE49-F238E27FC236}">
                <a16:creationId xmlns:a16="http://schemas.microsoft.com/office/drawing/2014/main" id="{F549D403-E6F1-4B1D-B3C7-24A2784D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810000"/>
            <a:ext cx="552450" cy="3219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3" name="text-62">
            <a:extLst xmlns:a="http://schemas.openxmlformats.org/drawingml/2006/main">
              <a:ext uri="{FF2B5EF4-FFF2-40B4-BE49-F238E27FC236}">
                <a16:creationId xmlns:a16="http://schemas.microsoft.com/office/drawing/2014/main" id="{6FE47765-917F-4B95-975B-49FF5BA1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38650"/>
            <a:ext cx="3562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All 5 must show the defect</a:t>
            </a:r>
          </a:p>
        </p:txBody>
      </p:sp>
      <p:sp>
        <p:nvSpPr>
          <p:cNvPr id="64" name="connector-63">
            <a:extLst xmlns:a="http://schemas.openxmlformats.org/drawingml/2006/main">
              <a:ext uri="{FF2B5EF4-FFF2-40B4-BE49-F238E27FC236}">
                <a16:creationId xmlns:a16="http://schemas.microsoft.com/office/drawing/2014/main" id="{A56AC134-B6A7-4CDC-9802-2BFB33DC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800600"/>
            <a:ext cx="3543300" cy="9525"/>
          </a:xfrm>
          <a:custGeom xmlns:a="http://schemas.openxmlformats.org/drawingml/2006/main">
            <a:pathLst>
              <a:path w="3543300" h="9525">
                <a:moveTo>
                  <a:pt x="0" y="0"/>
                </a:moveTo>
                <a:lnTo>
                  <a:pt x="3543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527F6A"/>
            </a:solidFill>
          </a:ln>
        </p:spPr>
      </p:sp>
      <p:sp>
        <p:nvSpPr>
          <p:cNvPr id="65" name="text-64">
            <a:extLst xmlns:a="http://schemas.openxmlformats.org/drawingml/2006/main">
              <a:ext uri="{FF2B5EF4-FFF2-40B4-BE49-F238E27FC236}">
                <a16:creationId xmlns:a16="http://schemas.microsoft.com/office/drawing/2014/main" id="{2A4B3EB6-BD81-47F6-8DF5-657595460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981575"/>
            <a:ext cx="3562350" cy="2847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Judge each run's checkpoints</a:t>
            </a:r>
          </a:p>
        </p:txBody>
      </p:sp>
      <p:sp>
        <p:nvSpPr>
          <p:cNvPr id="66" name="text-65">
            <a:extLst xmlns:a="http://schemas.openxmlformats.org/drawingml/2006/main">
              <a:ext uri="{FF2B5EF4-FFF2-40B4-BE49-F238E27FC236}">
                <a16:creationId xmlns:a16="http://schemas.microsoft.com/office/drawing/2014/main" id="{819B0AE3-9E73-4567-8CEF-7B0BBF4E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362575"/>
            <a:ext cx="35623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Original symptom + 2–8 images</a:t>
            </a:r>
          </a:p>
        </p:txBody>
      </p:sp>
      <p:sp>
        <p:nvSpPr>
          <p:cNvPr id="67" name="text-66">
            <a:extLst xmlns:a="http://schemas.openxmlformats.org/drawingml/2006/main">
              <a:ext uri="{FF2B5EF4-FFF2-40B4-BE49-F238E27FC236}">
                <a16:creationId xmlns:a16="http://schemas.microsoft.com/office/drawing/2014/main" id="{701E9A92-C988-4DB2-98E6-269454AA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705475"/>
            <a:ext cx="356235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DE0B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9DE0BF"/>
                </a:solidFill>
                <a:latin typeface="Arial"/>
                <a:ea typeface="Arial"/>
                <a:cs typeface="Arial"/>
              </a:rPr>
              <a:t>Separate verification call</a:t>
            </a:r>
          </a:p>
        </p:txBody>
      </p:sp>
      <p:sp>
        <p:nvSpPr>
          <p:cNvPr id="68" name="text-67">
            <a:extLst xmlns:a="http://schemas.openxmlformats.org/drawingml/2006/main">
              <a:ext uri="{FF2B5EF4-FFF2-40B4-BE49-F238E27FC236}">
                <a16:creationId xmlns:a16="http://schemas.microsoft.com/office/drawing/2014/main" id="{24878CB7-B29C-4D7E-AA65-60F260D23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019800"/>
            <a:ext cx="3562350" cy="210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Incomplete evidence stays inconclusive.</a:t>
            </a:r>
          </a:p>
        </p:txBody>
      </p:sp>
      <p:sp>
        <p:nvSpPr>
          <p:cNvPr id="69" name="connector-68">
            <a:extLst xmlns:a="http://schemas.openxmlformats.org/drawingml/2006/main">
              <a:ext uri="{FF2B5EF4-FFF2-40B4-BE49-F238E27FC236}">
                <a16:creationId xmlns:a16="http://schemas.microsoft.com/office/drawing/2014/main" id="{3B722D2D-C187-45B1-9B53-A00D9CF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981450"/>
            <a:ext cx="342900" cy="9525"/>
          </a:xfrm>
          <a:custGeom xmlns:a="http://schemas.openxmlformats.org/drawingml/2006/main">
            <a:pathLst>
              <a:path w="342900" h="9525">
                <a:moveTo>
                  <a:pt x="0" y="0"/>
                </a:moveTo>
                <a:lnTo>
                  <a:pt x="3429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DE0BF"/>
            </a:solidFill>
          </a:ln>
        </p:spPr>
      </p:sp>
      <p:sp>
        <p:nvSpPr>
          <p:cNvPr id="70" name="connector-69">
            <a:extLst xmlns:a="http://schemas.openxmlformats.org/drawingml/2006/main">
              <a:ext uri="{FF2B5EF4-FFF2-40B4-BE49-F238E27FC236}">
                <a16:creationId xmlns:a16="http://schemas.microsoft.com/office/drawing/2014/main" id="{3B4D650B-B8D6-4DAC-9D43-41950645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7225" y="3936873"/>
            <a:ext cx="85725" cy="89154"/>
          </a:xfrm>
          <a:custGeom xmlns:a="http://schemas.openxmlformats.org/drawingml/2006/main">
            <a:pathLst>
              <a:path w="85725" h="89154">
                <a:moveTo>
                  <a:pt x="85725" y="44577"/>
                </a:moveTo>
                <a:lnTo>
                  <a:pt x="0" y="891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DE0BF"/>
          </a:solidFill>
          <a:ln xmlns:a="http://schemas.openxmlformats.org/drawingml/2006/main" w="0">
            <a:noFill/>
          </a:ln>
        </p:spPr>
      </p:sp>
      <p:sp>
        <p:nvSpPr>
          <p:cNvPr id="71" name="text-70">
            <a:extLst xmlns:a="http://schemas.openxmlformats.org/drawingml/2006/main">
              <a:ext uri="{FF2B5EF4-FFF2-40B4-BE49-F238E27FC236}">
                <a16:creationId xmlns:a16="http://schemas.microsoft.com/office/drawing/2014/main" id="{BBCD9D63-BBC4-4EBB-AF34-AFC1ACF50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324100"/>
            <a:ext cx="24003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90899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0899E"/>
                </a:solidFill>
                <a:latin typeface="Arial"/>
                <a:ea typeface="Arial"/>
                <a:cs typeface="Arial"/>
              </a:rPr>
              <a:t>04  RETAIN</a:t>
            </a:r>
          </a:p>
        </p:txBody>
      </p:sp>
      <p:sp>
        <p:nvSpPr>
          <p:cNvPr id="72" name="text-71">
            <a:extLst xmlns:a="http://schemas.openxmlformats.org/drawingml/2006/main">
              <a:ext uri="{FF2B5EF4-FFF2-40B4-BE49-F238E27FC236}">
                <a16:creationId xmlns:a16="http://schemas.microsoft.com/office/drawing/2014/main" id="{AB86AB9D-21EC-49C4-BB0C-624D357A7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657475"/>
            <a:ext cx="2400300" cy="3343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A regression test</a:t>
            </a:r>
          </a:p>
        </p:txBody>
      </p:sp>
      <p:sp>
        <p:nvSpPr>
          <p:cNvPr id="73" name="text-72">
            <a:extLst xmlns:a="http://schemas.openxmlformats.org/drawingml/2006/main">
              <a:ext uri="{FF2B5EF4-FFF2-40B4-BE49-F238E27FC236}">
                <a16:creationId xmlns:a16="http://schemas.microsoft.com/office/drawing/2014/main" id="{6AD5EFA1-085E-42B9-BF12-4D289615A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219450"/>
            <a:ext cx="2381250" cy="2724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Reduce, then reconfirm</a:t>
            </a:r>
          </a:p>
        </p:txBody>
      </p:sp>
      <p:sp>
        <p:nvSpPr>
          <p:cNvPr id="74" name="text-73">
            <a:extLst xmlns:a="http://schemas.openxmlformats.org/drawingml/2006/main">
              <a:ext uri="{FF2B5EF4-FFF2-40B4-BE49-F238E27FC236}">
                <a16:creationId xmlns:a16="http://schemas.microsoft.com/office/drawing/2014/main" id="{3D16804A-F492-4DC6-A264-53893747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3562350"/>
            <a:ext cx="24003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Preserve required checkpoints.</a:t>
            </a:r>
          </a:p>
        </p:txBody>
      </p:sp>
      <p:sp>
        <p:nvSpPr>
          <p:cNvPr id="75" name="shape-74">
            <a:extLst xmlns:a="http://schemas.openxmlformats.org/drawingml/2006/main">
              <a:ext uri="{FF2B5EF4-FFF2-40B4-BE49-F238E27FC236}">
                <a16:creationId xmlns:a16="http://schemas.microsoft.com/office/drawing/2014/main" id="{E617BF95-1CAD-4A97-940B-1FA2B8557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067175"/>
            <a:ext cx="2400300" cy="1304925"/>
          </a:xfrm>
          <a:prstGeom xmlns:a="http://schemas.openxmlformats.org/drawingml/2006/main" prst="roundRect">
            <a:avLst>
              <a:gd name="adj" fmla="val 2920"/>
            </a:avLst>
          </a:prstGeom>
          <a:solidFill xmlns:a="http://schemas.openxmlformats.org/drawingml/2006/main">
            <a:srgbClr val="201D28"/>
          </a:solidFill>
          <a:ln xmlns:a="http://schemas.openxmlformats.org/drawingml/2006/main" w="14288">
            <a:solidFill>
              <a:srgbClr val="37323F"/>
            </a:solidFill>
          </a:ln>
        </p:spPr>
      </p:sp>
      <p:sp>
        <p:nvSpPr>
          <p:cNvPr id="76" name="text-75">
            <a:extLst xmlns:a="http://schemas.openxmlformats.org/drawingml/2006/main">
              <a:ext uri="{FF2B5EF4-FFF2-40B4-BE49-F238E27FC236}">
                <a16:creationId xmlns:a16="http://schemas.microsoft.com/office/drawing/2014/main" id="{F5E5804F-C264-4392-838A-1CB1EDEA1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210050"/>
            <a:ext cx="20574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B8FF"/>
                </a:solidFill>
                <a:latin typeface="Arial"/>
                <a:ea typeface="Arial"/>
                <a:cs typeface="Arial"/>
              </a:rPr>
              <a:t>repro.yaml</a:t>
            </a:r>
          </a:p>
        </p:txBody>
      </p:sp>
      <p:sp>
        <p:nvSpPr>
          <p:cNvPr id="77" name="text-76">
            <a:extLst xmlns:a="http://schemas.openxmlformats.org/drawingml/2006/main">
              <a:ext uri="{FF2B5EF4-FFF2-40B4-BE49-F238E27FC236}">
                <a16:creationId xmlns:a16="http://schemas.microsoft.com/office/drawing/2014/main" id="{C6BC9A53-8AA8-4C95-8948-65E9B8E7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591050"/>
            <a:ext cx="207645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Revision + inputs</a:t>
            </a:r>
          </a:p>
        </p:txBody>
      </p:sp>
      <p:sp>
        <p:nvSpPr>
          <p:cNvPr id="78" name="text-77">
            <a:extLst xmlns:a="http://schemas.openxmlformats.org/drawingml/2006/main">
              <a:ext uri="{FF2B5EF4-FFF2-40B4-BE49-F238E27FC236}">
                <a16:creationId xmlns:a16="http://schemas.microsoft.com/office/drawing/2014/main" id="{B919C6DD-C589-47CC-BC21-4C8946EB5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815459"/>
            <a:ext cx="2076450" cy="235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Checkpoints + bug check</a:t>
            </a:r>
          </a:p>
        </p:txBody>
      </p:sp>
      <p:sp>
        <p:nvSpPr>
          <p:cNvPr id="79" name="text-78">
            <a:extLst xmlns:a="http://schemas.openxmlformats.org/drawingml/2006/main">
              <a:ext uri="{FF2B5EF4-FFF2-40B4-BE49-F238E27FC236}">
                <a16:creationId xmlns:a16="http://schemas.microsoft.com/office/drawing/2014/main" id="{79B35D5F-3E40-428E-AE26-886ACC5ED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648325"/>
            <a:ext cx="240030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Replay the same trigger</a:t>
            </a:r>
          </a:p>
        </p:txBody>
      </p:sp>
      <p:sp>
        <p:nvSpPr>
          <p:cNvPr id="80" name="text-79">
            <a:extLst xmlns:a="http://schemas.openxmlformats.org/drawingml/2006/main">
              <a:ext uri="{FF2B5EF4-FFF2-40B4-BE49-F238E27FC236}">
                <a16:creationId xmlns:a16="http://schemas.microsoft.com/office/drawing/2014/main" id="{A637AEB2-83E8-4E40-8B99-15517CAA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896356"/>
            <a:ext cx="2400300" cy="260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on a candidate patch.</a:t>
            </a:r>
          </a:p>
        </p:txBody>
      </p:sp>
      <p:sp>
        <p:nvSpPr>
          <p:cNvPr id="81" name="connector-80">
            <a:extLst xmlns:a="http://schemas.openxmlformats.org/drawingml/2006/main">
              <a:ext uri="{FF2B5EF4-FFF2-40B4-BE49-F238E27FC236}">
                <a16:creationId xmlns:a16="http://schemas.microsoft.com/office/drawing/2014/main" id="{24FDB460-517B-4C29-A008-1C0A3119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91275"/>
            <a:ext cx="14173200" cy="9525"/>
          </a:xfrm>
          <a:custGeom xmlns:a="http://schemas.openxmlformats.org/drawingml/2006/main">
            <a:pathLst>
              <a:path w="14173200" h="9525">
                <a:moveTo>
                  <a:pt x="0" y="0"/>
                </a:moveTo>
                <a:lnTo>
                  <a:pt x="141732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37323F"/>
            </a:solidFill>
          </a:ln>
        </p:spPr>
      </p:sp>
      <p:sp>
        <p:nvSpPr>
          <p:cNvPr id="82" name="text-81">
            <a:extLst xmlns:a="http://schemas.openxmlformats.org/drawingml/2006/main">
              <a:ext uri="{FF2B5EF4-FFF2-40B4-BE49-F238E27FC236}">
                <a16:creationId xmlns:a16="http://schemas.microsoft.com/office/drawing/2014/main" id="{786A7BC9-0D36-434D-8E7A-C61A4B0BF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14173200" cy="346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The key check: did the deletion survive saving and reopening?</a:t>
            </a:r>
          </a:p>
        </p:txBody>
      </p:sp>
      <p:sp>
        <p:nvSpPr>
          <p:cNvPr id="83" name="text-82">
            <a:extLst xmlns:a="http://schemas.openxmlformats.org/drawingml/2006/main">
              <a:ext uri="{FF2B5EF4-FFF2-40B4-BE49-F238E27FC236}">
                <a16:creationId xmlns:a16="http://schemas.microsoft.com/office/drawing/2014/main" id="{A35FEB66-8E35-47D3-A14B-AE9DC600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134225"/>
            <a:ext cx="241935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CBB8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BB8FF"/>
                </a:solidFill>
                <a:latin typeface="Arial"/>
                <a:ea typeface="Arial"/>
                <a:cs typeface="Arial"/>
              </a:rPr>
              <a:t>Saved patch</a:t>
            </a:r>
          </a:p>
        </p:txBody>
      </p:sp>
      <p:sp>
        <p:nvSpPr>
          <p:cNvPr id="84" name="text-83">
            <a:extLst xmlns:a="http://schemas.openxmlformats.org/drawingml/2006/main">
              <a:ext uri="{FF2B5EF4-FFF2-40B4-BE49-F238E27FC236}">
                <a16:creationId xmlns:a16="http://schemas.microsoft.com/office/drawing/2014/main" id="{914C30CF-AD28-4CAB-809E-CAE7886F9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77125"/>
            <a:ext cx="241935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Initial save is visible</a:t>
            </a:r>
          </a:p>
        </p:txBody>
      </p:sp>
      <p:sp>
        <p:nvSpPr>
          <p:cNvPr id="85" name="connector-84">
            <a:extLst xmlns:a="http://schemas.openxmlformats.org/drawingml/2006/main">
              <a:ext uri="{FF2B5EF4-FFF2-40B4-BE49-F238E27FC236}">
                <a16:creationId xmlns:a16="http://schemas.microsoft.com/office/drawing/2014/main" id="{FEC10DB6-926C-4D8F-B183-25F7E9B8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7305675"/>
            <a:ext cx="247650" cy="9525"/>
          </a:xfrm>
          <a:custGeom xmlns:a="http://schemas.openxmlformats.org/drawingml/2006/main">
            <a:pathLst>
              <a:path w="247650" h="9525">
                <a:moveTo>
                  <a:pt x="0" y="0"/>
                </a:moveTo>
                <a:lnTo>
                  <a:pt x="2476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0899E"/>
            </a:solidFill>
          </a:ln>
        </p:spPr>
      </p:sp>
      <p:sp>
        <p:nvSpPr>
          <p:cNvPr id="86" name="connector-85">
            <a:extLst xmlns:a="http://schemas.openxmlformats.org/drawingml/2006/main">
              <a:ext uri="{FF2B5EF4-FFF2-40B4-BE49-F238E27FC236}">
                <a16:creationId xmlns:a16="http://schemas.microsoft.com/office/drawing/2014/main" id="{66C93EDE-65A8-4909-9AE4-D8E8185B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7271004"/>
            <a:ext cx="66675" cy="69342"/>
          </a:xfrm>
          <a:custGeom xmlns:a="http://schemas.openxmlformats.org/drawingml/2006/main">
            <a:pathLst>
              <a:path w="66675" h="69342">
                <a:moveTo>
                  <a:pt x="66675" y="34671"/>
                </a:moveTo>
                <a:lnTo>
                  <a:pt x="0" y="69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899E"/>
          </a:solidFill>
          <a:ln xmlns:a="http://schemas.openxmlformats.org/drawingml/2006/main" w="0">
            <a:noFill/>
          </a:ln>
        </p:spPr>
      </p:sp>
      <p:sp>
        <p:nvSpPr>
          <p:cNvPr id="87" name="text-86">
            <a:extLst xmlns:a="http://schemas.openxmlformats.org/drawingml/2006/main">
              <a:ext uri="{FF2B5EF4-FFF2-40B4-BE49-F238E27FC236}">
                <a16:creationId xmlns:a16="http://schemas.microsoft.com/office/drawing/2014/main" id="{1BBB4805-30B3-4063-8734-6D557F32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134225"/>
            <a:ext cx="2143125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Delete</a:t>
            </a:r>
          </a:p>
        </p:txBody>
      </p:sp>
      <p:sp>
        <p:nvSpPr>
          <p:cNvPr id="88" name="text-87">
            <a:extLst xmlns:a="http://schemas.openxmlformats.org/drawingml/2006/main">
              <a:ext uri="{FF2B5EF4-FFF2-40B4-BE49-F238E27FC236}">
                <a16:creationId xmlns:a16="http://schemas.microsoft.com/office/drawing/2014/main" id="{217EF3CE-5EAE-4CF1-A90D-33F1789C0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7477125"/>
            <a:ext cx="2143125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Empty list is visible</a:t>
            </a:r>
          </a:p>
        </p:txBody>
      </p:sp>
      <p:sp>
        <p:nvSpPr>
          <p:cNvPr id="89" name="connector-88">
            <a:extLst xmlns:a="http://schemas.openxmlformats.org/drawingml/2006/main">
              <a:ext uri="{FF2B5EF4-FFF2-40B4-BE49-F238E27FC236}">
                <a16:creationId xmlns:a16="http://schemas.microsoft.com/office/drawing/2014/main" id="{3AD97EDA-57AD-436D-ADD0-4E4D71EF1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7305675"/>
            <a:ext cx="495300" cy="9525"/>
          </a:xfrm>
          <a:custGeom xmlns:a="http://schemas.openxmlformats.org/drawingml/2006/main">
            <a:pathLst>
              <a:path w="495300" h="9525">
                <a:moveTo>
                  <a:pt x="0" y="0"/>
                </a:moveTo>
                <a:lnTo>
                  <a:pt x="495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0899E"/>
            </a:solidFill>
          </a:ln>
        </p:spPr>
      </p:sp>
      <p:sp>
        <p:nvSpPr>
          <p:cNvPr id="90" name="connector-89">
            <a:extLst xmlns:a="http://schemas.openxmlformats.org/drawingml/2006/main">
              <a:ext uri="{FF2B5EF4-FFF2-40B4-BE49-F238E27FC236}">
                <a16:creationId xmlns:a16="http://schemas.microsoft.com/office/drawing/2014/main" id="{A8C5616B-02C2-4F79-B6D1-287B3551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7271004"/>
            <a:ext cx="66675" cy="69342"/>
          </a:xfrm>
          <a:custGeom xmlns:a="http://schemas.openxmlformats.org/drawingml/2006/main">
            <a:pathLst>
              <a:path w="66675" h="69342">
                <a:moveTo>
                  <a:pt x="66675" y="34671"/>
                </a:moveTo>
                <a:lnTo>
                  <a:pt x="0" y="69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899E"/>
          </a:solidFill>
          <a:ln xmlns:a="http://schemas.openxmlformats.org/drawingml/2006/main" w="0">
            <a:noFill/>
          </a:ln>
        </p:spPr>
      </p:sp>
      <p:sp>
        <p:nvSpPr>
          <p:cNvPr id="91" name="text-90">
            <a:extLst xmlns:a="http://schemas.openxmlformats.org/drawingml/2006/main">
              <a:ext uri="{FF2B5EF4-FFF2-40B4-BE49-F238E27FC236}">
                <a16:creationId xmlns:a16="http://schemas.microsoft.com/office/drawing/2014/main" id="{4D88361C-C39B-4042-A22A-DCC5BAC0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134225"/>
            <a:ext cx="22860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Confirm save</a:t>
            </a:r>
          </a:p>
        </p:txBody>
      </p:sp>
      <p:sp>
        <p:nvSpPr>
          <p:cNvPr id="92" name="text-91">
            <a:extLst xmlns:a="http://schemas.openxmlformats.org/drawingml/2006/main">
              <a:ext uri="{FF2B5EF4-FFF2-40B4-BE49-F238E27FC236}">
                <a16:creationId xmlns:a16="http://schemas.microsoft.com/office/drawing/2014/main" id="{8615FE09-5135-459E-88E8-7996DAF5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7477125"/>
            <a:ext cx="22860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Save success is visible</a:t>
            </a:r>
          </a:p>
        </p:txBody>
      </p:sp>
      <p:sp>
        <p:nvSpPr>
          <p:cNvPr id="93" name="connector-92">
            <a:extLst xmlns:a="http://schemas.openxmlformats.org/drawingml/2006/main">
              <a:ext uri="{FF2B5EF4-FFF2-40B4-BE49-F238E27FC236}">
                <a16:creationId xmlns:a16="http://schemas.microsoft.com/office/drawing/2014/main" id="{54B49EFD-68E7-4D89-B72A-22214B3E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7305675"/>
            <a:ext cx="381000" cy="9525"/>
          </a:xfrm>
          <a:custGeom xmlns:a="http://schemas.openxmlformats.org/drawingml/2006/main">
            <a:pathLst>
              <a:path w="381000" h="9525">
                <a:moveTo>
                  <a:pt x="0" y="0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0899E"/>
            </a:solidFill>
          </a:ln>
        </p:spPr>
      </p:sp>
      <p:sp>
        <p:nvSpPr>
          <p:cNvPr id="94" name="connector-93">
            <a:extLst xmlns:a="http://schemas.openxmlformats.org/drawingml/2006/main">
              <a:ext uri="{FF2B5EF4-FFF2-40B4-BE49-F238E27FC236}">
                <a16:creationId xmlns:a16="http://schemas.microsoft.com/office/drawing/2014/main" id="{247CABD2-EA5B-4A5C-834F-9237426E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7271004"/>
            <a:ext cx="66675" cy="69342"/>
          </a:xfrm>
          <a:custGeom xmlns:a="http://schemas.openxmlformats.org/drawingml/2006/main">
            <a:pathLst>
              <a:path w="66675" h="69342">
                <a:moveTo>
                  <a:pt x="66675" y="34671"/>
                </a:moveTo>
                <a:lnTo>
                  <a:pt x="0" y="69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899E"/>
          </a:solidFill>
          <a:ln xmlns:a="http://schemas.openxmlformats.org/drawingml/2006/main" w="0">
            <a:noFill/>
          </a:ln>
        </p:spPr>
      </p:sp>
      <p:sp>
        <p:nvSpPr>
          <p:cNvPr id="95" name="text-94">
            <a:extLst xmlns:a="http://schemas.openxmlformats.org/drawingml/2006/main">
              <a:ext uri="{FF2B5EF4-FFF2-40B4-BE49-F238E27FC236}">
                <a16:creationId xmlns:a16="http://schemas.microsoft.com/office/drawing/2014/main" id="{67BF81C8-AEA9-42E1-BF61-BC820AA8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7134225"/>
            <a:ext cx="2400300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F1FC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F1FC"/>
                </a:solidFill>
                <a:latin typeface="Arial"/>
                <a:ea typeface="Arial"/>
                <a:cs typeface="Arial"/>
              </a:rPr>
              <a:t>Reopen map</a:t>
            </a:r>
          </a:p>
        </p:txBody>
      </p:sp>
      <p:sp>
        <p:nvSpPr>
          <p:cNvPr id="96" name="text-95">
            <a:extLst xmlns:a="http://schemas.openxmlformats.org/drawingml/2006/main">
              <a:ext uri="{FF2B5EF4-FFF2-40B4-BE49-F238E27FC236}">
                <a16:creationId xmlns:a16="http://schemas.microsoft.com/office/drawing/2014/main" id="{AFB10331-531C-491B-8317-73C6260FE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7477125"/>
            <a:ext cx="2400300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Same map is verified</a:t>
            </a:r>
          </a:p>
        </p:txBody>
      </p:sp>
      <p:sp>
        <p:nvSpPr>
          <p:cNvPr id="97" name="connector-96">
            <a:extLst xmlns:a="http://schemas.openxmlformats.org/drawingml/2006/main">
              <a:ext uri="{FF2B5EF4-FFF2-40B4-BE49-F238E27FC236}">
                <a16:creationId xmlns:a16="http://schemas.microsoft.com/office/drawing/2014/main" id="{7A3A68FB-EC73-44CE-8DE7-D1C7F2BA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6225" y="7305675"/>
            <a:ext cx="266700" cy="9525"/>
          </a:xfrm>
          <a:custGeom xmlns:a="http://schemas.openxmlformats.org/drawingml/2006/main">
            <a:pathLst>
              <a:path w="266700" h="952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0899E"/>
            </a:solidFill>
          </a:ln>
        </p:spPr>
      </p:sp>
      <p:sp>
        <p:nvSpPr>
          <p:cNvPr id="98" name="connector-97">
            <a:extLst xmlns:a="http://schemas.openxmlformats.org/drawingml/2006/main">
              <a:ext uri="{FF2B5EF4-FFF2-40B4-BE49-F238E27FC236}">
                <a16:creationId xmlns:a16="http://schemas.microsoft.com/office/drawing/2014/main" id="{405947FB-F532-41BE-A694-BF4062AB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7271004"/>
            <a:ext cx="66675" cy="69342"/>
          </a:xfrm>
          <a:custGeom xmlns:a="http://schemas.openxmlformats.org/drawingml/2006/main">
            <a:pathLst>
              <a:path w="66675" h="69342">
                <a:moveTo>
                  <a:pt x="66675" y="34671"/>
                </a:moveTo>
                <a:lnTo>
                  <a:pt x="0" y="69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90899E"/>
          </a:solidFill>
          <a:ln xmlns:a="http://schemas.openxmlformats.org/drawingml/2006/main" w="0">
            <a:noFill/>
          </a:ln>
        </p:spPr>
      </p:sp>
      <p:sp>
        <p:nvSpPr>
          <p:cNvPr id="99" name="text-98">
            <a:extLst xmlns:a="http://schemas.openxmlformats.org/drawingml/2006/main">
              <a:ext uri="{FF2B5EF4-FFF2-40B4-BE49-F238E27FC236}">
                <a16:creationId xmlns:a16="http://schemas.microsoft.com/office/drawing/2014/main" id="{0DAD736B-A1B3-4A7E-BA66-3D1ACC88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134225"/>
            <a:ext cx="2543175" cy="309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4A4A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4A4AE"/>
                </a:solidFill>
                <a:latin typeface="Arial"/>
                <a:ea typeface="Arial"/>
                <a:cs typeface="Arial"/>
              </a:rPr>
              <a:t>Patch returns</a:t>
            </a:r>
          </a:p>
        </p:txBody>
      </p:sp>
      <p:sp>
        <p:nvSpPr>
          <p:cNvPr id="100" name="text-99">
            <a:extLst xmlns:a="http://schemas.openxmlformats.org/drawingml/2006/main">
              <a:ext uri="{FF2B5EF4-FFF2-40B4-BE49-F238E27FC236}">
                <a16:creationId xmlns:a16="http://schemas.microsoft.com/office/drawing/2014/main" id="{D06A4494-E84B-47DD-81F0-8B9A768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477125"/>
            <a:ext cx="2543175" cy="2228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Reported defect is visible</a:t>
            </a:r>
          </a:p>
        </p:txBody>
      </p:sp>
      <p:sp>
        <p:nvSpPr>
          <p:cNvPr id="101" name="text-100">
            <a:extLst xmlns:a="http://schemas.openxmlformats.org/drawingml/2006/main">
              <a:ext uri="{FF2B5EF4-FFF2-40B4-BE49-F238E27FC236}">
                <a16:creationId xmlns:a16="http://schemas.microsoft.com/office/drawing/2014/main" id="{6A268B9A-CED6-48B3-920B-AF2D449E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48600"/>
            <a:ext cx="1417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4AFC1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B4AFC1"/>
                </a:solidFill>
                <a:latin typeface="Arial"/>
                <a:ea typeface="Arial"/>
                <a:cs typeface="Arial"/>
              </a:rPr>
              <a:t>Recorded Mindustry #12620: 5/5 baseline runs, 31 actions reduced to 30, and 5/5 correct candidate outcomes.</a:t>
            </a:r>
          </a:p>
        </p:txBody>
      </p:sp>
      <p:sp>
        <p:nvSpPr>
          <p:cNvPr id="102" name="text-101">
            <a:extLst xmlns:a="http://schemas.openxmlformats.org/drawingml/2006/main">
              <a:ext uri="{FF2B5EF4-FFF2-40B4-BE49-F238E27FC236}">
                <a16:creationId xmlns:a16="http://schemas.microsoft.com/office/drawing/2014/main" id="{5F9BFD46-6541-420D-A9A3-437CC1A8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115300"/>
            <a:ext cx="14173200" cy="198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90899E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90899E"/>
                </a:solidFill>
                <a:latin typeface="Arial"/>
                <a:ea typeface="Arial"/>
                <a:cs typeface="Arial"/>
              </a:rPr>
              <a:t>This run received save-checkpoint guidance. Visual verification uses model judgments.</a:t>
            </a:r>
          </a:p>
        </p:txBody>
      </p:sp>
    </p:spTree>
    <p:extLst>
      <p:ext uri="{BB962C8B-B14F-4D97-AF65-F5344CB8AC3E}">
        <p14:creationId xmlns:p14="http://schemas.microsoft.com/office/powerpoint/2010/main" val="12048773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2026-09-15T11:29:53.5510000Z</dcterms:created>
  <dcterms:modified xsi:type="dcterms:W3CDTF">2026-09-15T11:29:53.5510000Z</dcterms:modified>
</coreProperties>
</file>